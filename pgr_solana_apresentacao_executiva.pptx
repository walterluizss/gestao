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Apresentação da arquitetura técnica integrada entre o Sistema PGR e a blockchain Solana. Destaque para o ciclo de vida completo do risco: desde a entrada no inventário até a liberação e encerramento das ações em campo com garantia de integridade perpétua.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Visão macro do pipeline de dados: 1) Ingestão e ancoragem sem custo de rent; 2) Formulação de ações com agrupamento N:1 e atestações públicas; 3) Execução em campo controlada por Trello e bloqueio estrito de APR e 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Explicação da sinergia entre o software corporativo e o Arweave: a organização mantém total flexibilidade para criar ou importar colunas sob demanda, enquanto os snapshots oficiais do inventário são arquivados perpetuamente sem mensalidades recorrentes na nuvem e selados por hashes na Solana.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Destaque fundamental da correção do documento: o log registra ativamente Usuário, Data e IP (e não IPI). A vinculação do SPL Memo confere valor jurídico inquestionável ao rastreamento operacional.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agrupamento é o motor de eficiência da plataforma: transforma listas infindáveis de perigos em ações concretas e viáveis, apoiadas por simulações financeiras detalhadas para cada contrato.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framework de Attestations da Solana fornece o padrão aberto para validação de conformidade. A empresa cria credenciais sob sua autoridade e gera atestados para clientes e reguladores com selo digital.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 Governança, a teoria se conecta à prática: a tela estilo Trello gerencia as entregas e dimensiona HH de equipes internas ou terceirizadas, enquanto a segurança física é garantida pela exigência estrita de APR e 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tabela sintetiza como cada componente se encaixa de maneira harmônica: o PGR gerencia a operação, o Arweave garante o arquivo eterno, a Solana sela as assinaturas e atestações, e o RPC permite a auditoria externa.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Conclusão e encerramento: a modernização do PGR com a Solana eleva a empresa a um patamar pioneiro de conformidade, garantindo proteção jurídica, controle financeiro estrito e eficiência na gestão de pessoas e ativos.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1371600"/>
            <a:ext cx="4114800" cy="4114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284C7"/>
                </a:solidFill>
                <a:latin typeface="Arial"/>
              </a:defRPr>
            </a:pPr>
            <a:r>
              <a:t>ARQUITETURA HÍBRIDA &amp; SEGURANÇA ON-CHAIN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Georgia"/>
              </a:defRPr>
            </a:pPr>
            <a:r>
              <a:t>Plataforma PGR &amp; Solana Network</a:t>
            </a:r>
          </a:p>
          <a:p>
            <a:pPr>
              <a:spcBef>
                <a:spcPts val="800"/>
              </a:spcBef>
              <a:defRPr sz="2200">
                <a:solidFill>
                  <a:srgbClr val="38BDF8"/>
                </a:solidFill>
                <a:latin typeface="Georgia"/>
              </a:defRPr>
            </a:pPr>
            <a:r>
              <a:t>Do Inventário de Risco à Governança de Campo com Auditoria Imutável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233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Integração ponta a ponta: Ingestão flexível de dados (Excel/JSON) no Inventário de Risco, guarda perpétua em Arweave, agrupamento estratégico (N:1) no Plano de Ação, rastreabilidade forense via SPL Memo (IP/Data/Usuário), atestações públicas de conformidade e governança operacional estilo Trello com trava mandatória de APR e PT.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5303520"/>
            <a:ext cx="3383280" cy="82296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284C7"/>
                </a:solidFill>
                <a:latin typeface="Arial"/>
              </a:defRPr>
            </a:pPr>
            <a:r>
              <a:t>MÓDULOS INTEGRADOS</a:t>
            </a:r>
          </a:p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Inventário, Plano de Ação, Governança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5303520"/>
            <a:ext cx="3383280" cy="82296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284C7"/>
                </a:solidFill>
                <a:latin typeface="Arial"/>
              </a:defRPr>
            </a:pPr>
            <a:r>
              <a:t>INFRAESTRUTURA WEB3</a:t>
            </a:r>
          </a:p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Solana JSON-RPC + Arweave + SPL Memo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5303520"/>
            <a:ext cx="3383280" cy="822960"/>
          </a:xfrm>
          <a:prstGeom prst="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0284C7"/>
                </a:solidFill>
                <a:latin typeface="Arial"/>
              </a:defRPr>
            </a:pPr>
            <a:r>
              <a:t>GARANTIA OPERACIONAL</a:t>
            </a:r>
          </a:p>
          <a:p>
            <a:pPr>
              <a:defRPr sz="1100">
                <a:solidFill>
                  <a:srgbClr val="FFFFFF"/>
                </a:solidFill>
                <a:latin typeface="Arial"/>
              </a:defRPr>
            </a:pPr>
            <a:r>
              <a:t>Não-Repúdio, Sem Rent, Trava APR/PT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VISÃO GERAL DO FLUXO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Georgia"/>
              </a:defRPr>
            </a:pPr>
            <a:r>
              <a:t>O ciclo de vida do risco conecta ingestão híbrida, agrupamento estratégico e governança de campo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190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Sistema PGR &amp; Solana • Arquitetura Técnica e Governança On-Chain                                      Slide 2 de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13455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3413455" cy="59436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FASE 1: INVENTÁRIO &amp; ANCORAGEM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3047695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E293B"/>
                </a:solidFill>
                <a:latin typeface="Arial"/>
              </a:defRPr>
            </a:pPr>
            <a:r>
              <a:t>• Entrada Flexível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Excel, JSON ou manual sem dependência de NR/ISO específicas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• Colunas Customizadas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Extensão livre para contratos e centros de custo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• Arweave Blockweave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Armazenamento perpétuo descentralizado (taxa única em AR)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• Auditoria SPL Memo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Registro imutável de Usuário, Data e IP nos logs de transação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413455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1737360"/>
            <a:ext cx="3413455" cy="59436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FASE 2: PLANO DE AÇÃO &amp; ATESTAÇÃO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468880"/>
            <a:ext cx="3047695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E293B"/>
                </a:solidFill>
                <a:latin typeface="Arial"/>
              </a:defRPr>
            </a:pPr>
            <a:r>
              <a:t>• Agrupamento N:1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Facilitadores consolidam várias linhas de risco em 1 Ação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• Simulações Contratuais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Tabelas de apoio projetam reflexos financeiros e prioridades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• Solana Attestations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Schemas e Credenciais padronizam atestados públicos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• Garantia de Compliance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Validação criptográfica sem expor segredos industriais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413455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46720" y="1737360"/>
            <a:ext cx="3413455" cy="5943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FASE 3: GOVERNANÇA &amp; EXECUÇÃO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468880"/>
            <a:ext cx="3047695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E293B"/>
                </a:solidFill>
                <a:latin typeface="Arial"/>
              </a:defRPr>
            </a:pPr>
            <a:r>
              <a:t>• Painel Estilo Trello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Gestão visual individual ou agrupada das esteiras de Ações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• Alocação de HH &amp; Materiais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Dimensionamento de equipes (internas/terceirizadas)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• Duplo Bloqueio APR &amp; PT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Liberação condicionada à Avaliação Prévia e Permissão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  <a:latin typeface="Arial"/>
              </a:defRPr>
            </a:pPr>
            <a:r>
              <a:t>• Liquidação On-Chain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Encerramento com assinaturas digitais seladas na rede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FASE 1: COLETA &amp; INVENTÁRIO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Georgia"/>
              </a:defRPr>
            </a:pPr>
            <a:r>
              <a:t>Inventário flexível armazena matrizes em Arweave e ancora hashes imutáveis na Solana sem custo de rent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190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Sistema PGR &amp; Solana • Arquitetura Técnica e Governança On-Chain                                      Slide 3 de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663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617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Georgia"/>
              </a:defRPr>
            </a:pPr>
            <a:r>
              <a:t>Flexibilidade Total na Entrada do Inventário</a:t>
            </a:r>
          </a:p>
          <a:p>
            <a:pPr>
              <a:spcBef>
                <a:spcPts val="800"/>
              </a:spcBef>
              <a:defRPr sz="1100" b="1">
                <a:solidFill>
                  <a:srgbClr val="0D9488"/>
                </a:solidFill>
                <a:latin typeface="Arial"/>
              </a:defRPr>
            </a:pPr>
            <a:r>
              <a:t>✔ Multi-Formato de Ingestão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Importação em lote de planilhas Excel (.xlsx, .csv), arquivos estruturados em JSON ou digitação manual em tela.</a:t>
            </a:r>
          </a:p>
          <a:p>
            <a:pPr>
              <a:spcBef>
                <a:spcPts val="800"/>
              </a:spcBef>
              <a:defRPr sz="1100" b="1">
                <a:solidFill>
                  <a:srgbClr val="0D9488"/>
                </a:solidFill>
                <a:latin typeface="Arial"/>
              </a:defRPr>
            </a:pPr>
            <a:r>
              <a:t>✔ Independência Normativa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Arquitetura agnóstica: não se prende a uma 'NR' ou 'ISO' específica, adaptando-se a normas internas, ISO 45001, NR-1 ou NR-10.</a:t>
            </a:r>
          </a:p>
          <a:p>
            <a:pPr>
              <a:spcBef>
                <a:spcPts val="800"/>
              </a:spcBef>
              <a:defRPr sz="1100" b="1">
                <a:solidFill>
                  <a:srgbClr val="0D9488"/>
                </a:solidFill>
                <a:latin typeface="Arial"/>
              </a:defRPr>
            </a:pPr>
            <a:r>
              <a:t>✔ Customização de Colunas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Suporte nativo tanto ao conjunto de colunas padrão quanto a colunas totalmente customizadas (contratos, centros de custo).</a:t>
            </a:r>
          </a:p>
          <a:p>
            <a:pPr>
              <a:spcBef>
                <a:spcPts val="800"/>
              </a:spcBef>
              <a:defRPr sz="1100" b="1">
                <a:solidFill>
                  <a:srgbClr val="0D9488"/>
                </a:solidFill>
                <a:latin typeface="Arial"/>
              </a:defRPr>
            </a:pPr>
            <a:r>
              <a:t>✔ Auditoria de Origem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Cada registro associa identificadores únicos para alimentar o rastreamento pericial subsequente.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737360"/>
            <a:ext cx="51663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920240"/>
            <a:ext cx="4617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Georgia"/>
              </a:defRPr>
            </a:pPr>
            <a:r>
              <a:t>Armazenamento Perpétuo Arweave &amp; Ancoragem</a:t>
            </a:r>
          </a:p>
          <a:p>
            <a:pPr>
              <a:spcBef>
                <a:spcPts val="800"/>
              </a:spcBef>
              <a:defRPr sz="1100" b="1">
                <a:solidFill>
                  <a:srgbClr val="0284C7"/>
                </a:solidFill>
                <a:latin typeface="Arial"/>
              </a:defRPr>
            </a:pPr>
            <a:r>
              <a:t>✔ Modelo 'Pay Once, Store Forever'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O Arweave utiliza blockweave e endowment pool (fundo de dotação). Um pagamento único em token AR elimina assinaturas recorrentes.</a:t>
            </a:r>
          </a:p>
          <a:p>
            <a:pPr>
              <a:spcBef>
                <a:spcPts val="800"/>
              </a:spcBef>
              <a:defRPr sz="1100" b="1">
                <a:solidFill>
                  <a:srgbClr val="0284C7"/>
                </a:solidFill>
                <a:latin typeface="Arial"/>
              </a:defRPr>
            </a:pPr>
            <a:r>
              <a:t>✔ Eliminação de Rent na Solana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Armazenar matrizes brutas no estado da Solana custaria rent contínuo. A guarda no Arweave com âncora on-chain resolve o custo.</a:t>
            </a:r>
          </a:p>
          <a:p>
            <a:pPr>
              <a:spcBef>
                <a:spcPts val="800"/>
              </a:spcBef>
              <a:defRPr sz="1100" b="1">
                <a:solidFill>
                  <a:srgbClr val="0284C7"/>
                </a:solidFill>
                <a:latin typeface="Arial"/>
              </a:defRPr>
            </a:pPr>
            <a:r>
              <a:t>✔ Proof of Integrity Criptográfico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O hash SHA-256 do arquivo JSON do inventário é gerado e registrado na rede, garantindo que qualquer alteração seja detectada.</a:t>
            </a:r>
          </a:p>
          <a:p>
            <a:pPr>
              <a:spcBef>
                <a:spcPts val="800"/>
              </a:spcBef>
              <a:defRPr sz="1100" b="1">
                <a:solidFill>
                  <a:srgbClr val="0284C7"/>
                </a:solidFill>
                <a:latin typeface="Arial"/>
              </a:defRPr>
            </a:pPr>
            <a:r>
              <a:t>✔ Imunidade a Exclusões Acidentais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Mesmo após anos, a cópia original do inventário permanece auditável, decentralizada e imune a censura.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AUDITORIA &amp; RASTREABILIDADE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Georgia"/>
              </a:defRPr>
            </a:pPr>
            <a:r>
              <a:t>Auditoria interna evolui para não-repúdio forense registrando Usuário, Data e IP nos logs de transação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190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Sistema PGR &amp; Solana • Arquitetura Técnica e Governança On-Chain                                      Slide 4 de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6636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617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C2626"/>
                </a:solidFill>
                <a:latin typeface="Georgia"/>
              </a:defRPr>
            </a:pPr>
            <a:r>
              <a:t>Auditoria Convencional (Vulnerabilidades)</a:t>
            </a:r>
          </a:p>
          <a:p>
            <a:pPr>
              <a:spcBef>
                <a:spcPts val="800"/>
              </a:spcBef>
              <a:defRPr sz="1100" b="1">
                <a:solidFill>
                  <a:srgbClr val="DC2626"/>
                </a:solidFill>
                <a:latin typeface="Arial"/>
              </a:defRPr>
            </a:pPr>
            <a:r>
              <a:t>✕ Armazenamento em Banco Centralizado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Logs residem em tabelas SQL internas vulneráveis a manipulação por administradores ou invasores.</a:t>
            </a:r>
          </a:p>
          <a:p>
            <a:pPr>
              <a:spcBef>
                <a:spcPts val="800"/>
              </a:spcBef>
              <a:defRPr sz="1100" b="1">
                <a:solidFill>
                  <a:srgbClr val="DC2626"/>
                </a:solidFill>
                <a:latin typeface="Arial"/>
              </a:defRPr>
            </a:pPr>
            <a:r>
              <a:t>✕ Risco de Apagamento em Litígios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Exclusão acidental ou intencional de registros históricos sem prova pública do evento original.</a:t>
            </a:r>
          </a:p>
          <a:p>
            <a:pPr>
              <a:spcBef>
                <a:spcPts val="800"/>
              </a:spcBef>
              <a:defRPr sz="1100" b="1">
                <a:solidFill>
                  <a:srgbClr val="DC2626"/>
                </a:solidFill>
                <a:latin typeface="Arial"/>
              </a:defRPr>
            </a:pPr>
            <a:r>
              <a:t>✕ Questionamento Pericial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Em disputas judiciais, relatórios internos gerados a posteriori podem sofrer contestação de autenticidade.</a:t>
            </a:r>
          </a:p>
          <a:p>
            <a:pPr>
              <a:spcBef>
                <a:spcPts val="800"/>
              </a:spcBef>
              <a:defRPr sz="1100" b="1">
                <a:solidFill>
                  <a:srgbClr val="DC2626"/>
                </a:solidFill>
                <a:latin typeface="Arial"/>
              </a:defRPr>
            </a:pPr>
            <a:r>
              <a:t>✕ Falta de Assinatura Criptográfica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Dependência exclusiva de autenticação de sessão tradicional sem chave assimétrica vinculada.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737360"/>
            <a:ext cx="516636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920240"/>
            <a:ext cx="4617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D9488"/>
                </a:solidFill>
                <a:latin typeface="Georgia"/>
              </a:defRPr>
            </a:pPr>
            <a:r>
              <a:t>Solução SPL Memo + PGR (Não-Repúdio Total)</a:t>
            </a:r>
          </a:p>
          <a:p>
            <a:pPr>
              <a:spcBef>
                <a:spcPts val="800"/>
              </a:spcBef>
              <a:defRPr sz="1100" b="1">
                <a:solidFill>
                  <a:srgbClr val="0D9488"/>
                </a:solidFill>
                <a:latin typeface="Arial"/>
              </a:defRPr>
            </a:pPr>
            <a:r>
              <a:t>✔ Gravação Inalterável no Log de Transação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O SPL Memo grava a mensagem em UTF-8 nos logs on-chain, imune a adulterações ou deleções retroativas.</a:t>
            </a:r>
          </a:p>
          <a:p>
            <a:pPr>
              <a:spcBef>
                <a:spcPts val="800"/>
              </a:spcBef>
              <a:defRPr sz="1100" b="1">
                <a:solidFill>
                  <a:srgbClr val="0D9488"/>
                </a:solidFill>
                <a:latin typeface="Arial"/>
              </a:defRPr>
            </a:pPr>
            <a:r>
              <a:t>✔ Registro Obrigatório: Usuário, Data e IP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Toda modificação ou exclusão de linha grava o autor, carimbo temporal oficial e endereço de IP no log.</a:t>
            </a:r>
          </a:p>
          <a:p>
            <a:pPr>
              <a:spcBef>
                <a:spcPts val="800"/>
              </a:spcBef>
              <a:defRPr sz="1100" b="1">
                <a:solidFill>
                  <a:srgbClr val="0D9488"/>
                </a:solidFill>
                <a:latin typeface="Arial"/>
              </a:defRPr>
            </a:pPr>
            <a:r>
              <a:t>✔ Autenticação das Contas Signatárias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O programa valida que as contas informadas assinaram a transação, assegurando o não-repúdio autoral.</a:t>
            </a:r>
          </a:p>
          <a:p>
            <a:pPr>
              <a:spcBef>
                <a:spcPts val="800"/>
              </a:spcBef>
              <a:defRPr sz="1100" b="1">
                <a:solidFill>
                  <a:srgbClr val="0D9488"/>
                </a:solidFill>
                <a:latin typeface="Arial"/>
              </a:defRPr>
            </a:pPr>
            <a:r>
              <a:t>✔ Recuperação Segura de Linhas Excluídas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Permite auditar o motivo da exclusão e restaurar registros do Inventário com histórico pericial comprovado.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FASE 2: PLANO DE 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Georgia"/>
              </a:defRPr>
            </a:pPr>
            <a:r>
              <a:t>Facilitadores agrupam N linhas de risco em 1 Ação mitigatória e simulam reflexos contratuais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190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Sistema PGR &amp; Solana • Arquitetura Técnica e Governança On-Chain                                      Slide 5 de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13455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0476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AGRUPAMENTO N:1</a:t>
            </a:r>
          </a:p>
          <a:p>
            <a:pPr>
              <a:spcBef>
                <a:spcPts val="300"/>
              </a:spcBef>
              <a:defRPr sz="1300" b="1">
                <a:solidFill>
                  <a:srgbClr val="1E293B"/>
                </a:solidFill>
                <a:latin typeface="Georgia"/>
              </a:defRPr>
            </a:pPr>
            <a:r>
              <a:t>Consolidação de Múltiplos Riscos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3047695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• Facilitadores inteligentes no sistema permitem vincular diversas linhas do Inventário de Risco a uma única Ação executiva.</a:t>
            </a:r>
          </a:p>
          <a:p>
            <a:pPr>
              <a:spcBef>
                <a:spcPts val="8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Elimina a dispersão de ordens de serviço semelhantes em áreas contíguas (ex.: ventilação + detecção de gás no mesmo tanque).</a:t>
            </a:r>
          </a:p>
          <a:p>
            <a:pPr>
              <a:spcBef>
                <a:spcPts val="8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Otimiza o planejamento de compras e a alocação de equipes de manutenção.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413455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920240"/>
            <a:ext cx="30476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SIMULAÇÕES CONTRATUAIS</a:t>
            </a:r>
          </a:p>
          <a:p>
            <a:pPr>
              <a:spcBef>
                <a:spcPts val="300"/>
              </a:spcBef>
              <a:defRPr sz="1300" b="1">
                <a:solidFill>
                  <a:srgbClr val="1E293B"/>
                </a:solidFill>
                <a:latin typeface="Georgia"/>
              </a:defRPr>
            </a:pPr>
            <a:r>
              <a:t>Tabelas de Apoio Parametrizadas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834640"/>
            <a:ext cx="3047695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• Módulo de apoio para modelar valores em contratos customizados antes do fechamento de custos.</a:t>
            </a:r>
          </a:p>
          <a:p>
            <a:pPr>
              <a:spcBef>
                <a:spcPts val="8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Visualização imediata dos impactos das variações financeiras nas avaliações do Inventário de Risco.</a:t>
            </a:r>
          </a:p>
          <a:p>
            <a:pPr>
              <a:spcBef>
                <a:spcPts val="8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Análise direta dos reflexos nos prazos e priorizações do Plano de Ação.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413455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20240"/>
            <a:ext cx="30476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Arial"/>
              </a:defRPr>
            </a:pPr>
            <a:r>
              <a:t>RASTREAMENTO UNIFICADO</a:t>
            </a:r>
          </a:p>
          <a:p>
            <a:pPr>
              <a:spcBef>
                <a:spcPts val="300"/>
              </a:spcBef>
              <a:defRPr sz="1300" b="1">
                <a:solidFill>
                  <a:srgbClr val="1E293B"/>
                </a:solidFill>
                <a:latin typeface="Georgia"/>
              </a:defRPr>
            </a:pPr>
            <a:r>
              <a:t>Relação Direta de Causa e Efeito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834640"/>
            <a:ext cx="3047695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• Cada Ação gerada preserva os ponteiros de todas as linhas de risco das quais se originou.</a:t>
            </a:r>
          </a:p>
          <a:p>
            <a:pPr>
              <a:spcBef>
                <a:spcPts val="8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Alterações nas Ações registram logs com Usuário, Data e IP da mesma forma que o Inventário.</a:t>
            </a:r>
          </a:p>
          <a:p>
            <a:pPr>
              <a:spcBef>
                <a:spcPts val="8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Alimenta os dados necessários para as atestações formais de segurança na Solana.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CONFORMIDADE &amp; ATESTAÇÕES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Georgia"/>
              </a:defRPr>
            </a:pPr>
            <a:r>
              <a:t>Schemas e Credenciais padronizam atestações públicas de conformidade para auditorias externas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190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Sistema PGR &amp; Solana • Arquitetura Técnica e Governança On-Chain                                      Slide 6 de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663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617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Georgia"/>
              </a:defRPr>
            </a:pPr>
            <a:r>
              <a:t>A Hierarquia de Atestações da Solana</a:t>
            </a:r>
          </a:p>
          <a:p>
            <a:pPr>
              <a:spcBef>
                <a:spcPts val="700"/>
              </a:spcBef>
              <a:defRPr sz="1100" b="1">
                <a:solidFill>
                  <a:srgbClr val="0284C7"/>
                </a:solidFill>
                <a:latin typeface="Arial"/>
              </a:defRPr>
            </a:pPr>
            <a:r>
              <a:t>1. Credenciais (Credentials)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Autoridades corporativas criam credenciais oficiais que definem quem tem permissão para emitir e assinar atestados.</a:t>
            </a:r>
          </a:p>
          <a:p>
            <a:pPr>
              <a:spcBef>
                <a:spcPts val="700"/>
              </a:spcBef>
              <a:defRPr sz="1100" b="1">
                <a:solidFill>
                  <a:srgbClr val="0284C7"/>
                </a:solidFill>
                <a:latin typeface="Arial"/>
              </a:defRPr>
            </a:pPr>
            <a:r>
              <a:t>2. Definição de Schemas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Modelos padronizados definem campos mandatórios (ID da Ação, riscos mitigados, engenheiro responsável, data limite).</a:t>
            </a:r>
          </a:p>
          <a:p>
            <a:pPr>
              <a:spcBef>
                <a:spcPts val="700"/>
              </a:spcBef>
              <a:defRPr sz="1100" b="1">
                <a:solidFill>
                  <a:srgbClr val="0284C7"/>
                </a:solidFill>
                <a:latin typeface="Arial"/>
              </a:defRPr>
            </a:pPr>
            <a:r>
              <a:t>3. Emissão de Atestações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Signatários autorizados emitem declarações criptograficamente verificáveis utilizando o SDK oficial sas-lib.</a:t>
            </a:r>
          </a:p>
          <a:p>
            <a:pPr>
              <a:spcBef>
                <a:spcPts val="700"/>
              </a:spcBef>
              <a:defRPr sz="1100" b="1">
                <a:solidFill>
                  <a:srgbClr val="0284C7"/>
                </a:solidFill>
                <a:latin typeface="Arial"/>
              </a:defRPr>
            </a:pPr>
            <a:r>
              <a:t>4. Vínculo On-Chain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As atestações ficam vinculadas à conta do projeto ou token accounts, permitindo consultas instantâneas por qualquer auditor.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737360"/>
            <a:ext cx="516636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920240"/>
            <a:ext cx="4617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293B"/>
                </a:solidFill>
                <a:latin typeface="Georgia"/>
              </a:defRPr>
            </a:pPr>
            <a:r>
              <a:t>Benefícios para Auditorias e Seguradoras</a:t>
            </a:r>
          </a:p>
          <a:p>
            <a:pPr>
              <a:spcBef>
                <a:spcPts val="700"/>
              </a:spcBef>
              <a:defRPr sz="1100" b="1">
                <a:solidFill>
                  <a:srgbClr val="0D9488"/>
                </a:solidFill>
                <a:latin typeface="Arial"/>
              </a:defRPr>
            </a:pPr>
            <a:r>
              <a:t>✔ Comprovação Sem Revelação de Dados Sensíveis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A seguradora verifica que o risco de espaço confinado foi mitigado sem precisar acessar os segredos operacionais da planta.</a:t>
            </a:r>
          </a:p>
          <a:p>
            <a:pPr>
              <a:spcBef>
                <a:spcPts val="700"/>
              </a:spcBef>
              <a:defRPr sz="1100" b="1">
                <a:solidFill>
                  <a:srgbClr val="0D9488"/>
                </a:solidFill>
                <a:latin typeface="Arial"/>
              </a:defRPr>
            </a:pPr>
            <a:r>
              <a:t>✔ Selo de Responsabilidade Técnica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Atestado emitido com a assinatura da chave pública do engenheiro de segurança responsável, assegurando responsabilização ética.</a:t>
            </a:r>
          </a:p>
          <a:p>
            <a:pPr>
              <a:spcBef>
                <a:spcPts val="700"/>
              </a:spcBef>
              <a:defRPr sz="1100" b="1">
                <a:solidFill>
                  <a:srgbClr val="0D9488"/>
                </a:solidFill>
                <a:latin typeface="Arial"/>
              </a:defRPr>
            </a:pPr>
            <a:r>
              <a:t>✔ Conformidade Contratual em Tempo Real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Clientes de contratos customizados acompanham pelo explorador da Solana se os compromissos de segurança foram formalizados no prazo.</a:t>
            </a:r>
          </a:p>
          <a:p>
            <a:pPr>
              <a:spcBef>
                <a:spcPts val="700"/>
              </a:spcBef>
              <a:defRPr sz="1100" b="1">
                <a:solidFill>
                  <a:srgbClr val="0D9488"/>
                </a:solidFill>
                <a:latin typeface="Arial"/>
              </a:defRPr>
            </a:pPr>
            <a:r>
              <a:t>✔ Padronização de Schemas de Segurança</a:t>
            </a:r>
          </a:p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Bibliotecas TypeScript (sas-lib) e Rust garantem integração contínua com os sistemas ERP da empresa.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FASE 3: GOVERNANÇA &amp; CAMPO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Georgia"/>
              </a:defRPr>
            </a:pPr>
            <a:r>
              <a:t>Painel estilo Trello distribui HH e materiais enquanto APR e PT bloqueiam execuções inseguras em campo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190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Sistema PGR &amp; Solana • Arquitetura Técnica e Governança On-Chain                                      Slide 7 de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13455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0476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PAINEL VISUAL TRELLO</a:t>
            </a:r>
          </a:p>
          <a:p>
            <a:pPr>
              <a:spcBef>
                <a:spcPts val="300"/>
              </a:spcBef>
              <a:defRPr sz="1300" b="1">
                <a:solidFill>
                  <a:srgbClr val="1E293B"/>
                </a:solidFill>
                <a:latin typeface="Georgia"/>
              </a:defRPr>
            </a:pPr>
            <a:r>
              <a:t>Esteira de Gestão Ágil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3047695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• A interface do sistema simula a dinâmica do Trello para acompanhamento visual das Ações.</a:t>
            </a:r>
          </a:p>
          <a:p>
            <a:pPr>
              <a:spcBef>
                <a:spcPts val="8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Gestão flexível: permite movimentar ações individualmente ou em lotes agrupados.</a:t>
            </a:r>
          </a:p>
          <a:p>
            <a:pPr>
              <a:spcBef>
                <a:spcPts val="8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Acompanhamento da evolução cronológica e gargalos operacionais em tempo real.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413455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920240"/>
            <a:ext cx="30476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ALOCAÇÃO DE RECURSOS</a:t>
            </a:r>
          </a:p>
          <a:p>
            <a:pPr>
              <a:spcBef>
                <a:spcPts val="300"/>
              </a:spcBef>
              <a:defRPr sz="1300" b="1">
                <a:solidFill>
                  <a:srgbClr val="1E293B"/>
                </a:solidFill>
                <a:latin typeface="Georgia"/>
              </a:defRPr>
            </a:pPr>
            <a:r>
              <a:t>Homens/Hora &amp; Materiais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834640"/>
            <a:ext cx="3047695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• Mão de Obra: Planejamento detalhado de equipes internas e terceirizadas em Homens/Hora (HH).</a:t>
            </a:r>
          </a:p>
          <a:p>
            <a:pPr>
              <a:spcBef>
                <a:spcPts val="8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Materiais e Equipamentos: Distribuição temporal de maquinários, andaimes e detectores na linha do tempo.</a:t>
            </a:r>
          </a:p>
          <a:p>
            <a:pPr>
              <a:spcBef>
                <a:spcPts val="8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Balanceamento dinâmico de sobrecarga de equipes operacionais entre frentes de trabalho.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413455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20240"/>
            <a:ext cx="304769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Arial"/>
              </a:defRPr>
            </a:pPr>
            <a:r>
              <a:t>DUPLO BLOQUEIO DE SEGURANÇA</a:t>
            </a:r>
          </a:p>
          <a:p>
            <a:pPr>
              <a:spcBef>
                <a:spcPts val="300"/>
              </a:spcBef>
              <a:defRPr sz="1300" b="1">
                <a:solidFill>
                  <a:srgbClr val="1E293B"/>
                </a:solidFill>
                <a:latin typeface="Georgia"/>
              </a:defRPr>
            </a:pPr>
            <a:r>
              <a:t>Trava Mandatória de APR e 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834640"/>
            <a:ext cx="3047695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>
                <a:solidFill>
                  <a:srgbClr val="334155"/>
                </a:solidFill>
                <a:latin typeface="Arial"/>
              </a:defRPr>
            </a:pPr>
            <a:r>
              <a:t>• APR (Avaliação Prévia de Risco): Vinculada nativamente a cada Ação cadastrada no sistema.</a:t>
            </a:r>
          </a:p>
          <a:p>
            <a:pPr>
              <a:spcBef>
                <a:spcPts val="8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PT (Permissão de Trabalho): Bloqueio mandatório que impede o início do trabalho em campo sem emissão formal.</a:t>
            </a:r>
          </a:p>
          <a:p>
            <a:pPr>
              <a:spcBef>
                <a:spcPts val="800"/>
              </a:spcBef>
              <a:defRPr sz="950">
                <a:solidFill>
                  <a:srgbClr val="334155"/>
                </a:solidFill>
                <a:latin typeface="Arial"/>
              </a:defRPr>
            </a:pPr>
            <a:r>
              <a:t>• Liquidação On-Chain: No encerramento da PT, sela-se a conclusão com assinaturas dos responsáveis.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D9488"/>
                </a:solidFill>
                <a:latin typeface="Arial"/>
              </a:defRPr>
            </a:pPr>
            <a:r>
              <a:t>MATRIZ TECNOLÓGICA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1E293B"/>
                </a:solidFill>
                <a:latin typeface="Georgia"/>
              </a:defRPr>
            </a:pPr>
            <a:r>
              <a:t>Arquitetura Híbrida distribui responsabilidades entre banco relacional, armazenamento perpétuo e livro-razão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190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Sistema PGR &amp; Solana • Arquitetura Técnica e Governança On-Chain                                      Slide 8 de 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737360"/>
          <a:ext cx="10728655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474720"/>
                <a:gridCol w="2468880"/>
                <a:gridCol w="2681935"/>
              </a:tblGrid>
              <a:tr h="71628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Camada / Ferramenta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Função Primária no Sistema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Armazenamento &amp; Custos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Garantia para o Negócio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Sistema PGR (Core)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Gestão do Inventário, agrupamento N:1, quadro Trello e dimensionamento de HH.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Banco Relacional Interno (Nuvem ou On-Premises)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Agilidade operacional diária e adaptação a qualquer padrão normativo.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Protocolo Arweave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Guarda perpétua dos arquivos JSON de inventário e documentações históricas.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Blockweave descentralizado; Custo único em AR (sem assinaturas)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Preservação permanente contra corrupção de dados ou exclusão acidental.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Solana SPL Memo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Carimbo de tempo e gravação forense de Usuário, Data e IP nos logs de transação.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Logs On-Chain da Solana; Sem custo de rent (apenas taxa tx)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Não-repúdio autoral e auditoria em tempo real com custo desprezível.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Solana Attestations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Emissão de atestados criptográficos estruturados segundo Schemas oficiais.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Contas de Atestação On-Chain vinculadas ao projeto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Validação pública de conformidade para auditorias externas e clientes.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APIs JSON-RPC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Consulta pública e programática via SDKs oficiais (@solana/kit e Rust).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Endpoints RPC públicos ou dedicados para alta performance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334155"/>
                          </a:solidFill>
                          <a:latin typeface="Arial"/>
                        </a:defRPr>
                      </a:pPr>
                      <a:r>
                        <a:t>Transparência corporativa sem expor segredos industriais internos.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Arial"/>
              </a:defRPr>
            </a:pPr>
            <a:r>
              <a:t>SÍNTESE ESTRATÉGICA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100" b="1">
                <a:solidFill>
                  <a:srgbClr val="FFFFFF"/>
                </a:solidFill>
                <a:latin typeface="Georgia"/>
              </a:defRPr>
            </a:pPr>
            <a:r>
              <a:t>Três pilares estratégicos entregam conformidade blindada, previsibilidade de custos e agilidade de campo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10728655" cy="1905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3093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Sistema PGR &amp; Solana • Arquitetura Técnica e Governança On-Chain                                      Slide 9 de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13455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30476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Arial"/>
              </a:defRPr>
            </a:pPr>
            <a:r>
              <a:t>CONFORMIDADE JURÍDICA E TRABALHISTA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3047695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✔ Não-repúdio absoluto: registros de Usuário, Data e IP selados pelo SPL Memo tornam o histórico pericial inquestionável.</a:t>
            </a:r>
          </a:p>
          <a:p>
            <a:pPr>
              <a:spcBef>
                <a:spcPts val="800"/>
              </a:spcBef>
              <a:defRPr sz="950">
                <a:solidFill>
                  <a:srgbClr val="E2E8F0"/>
                </a:solidFill>
                <a:latin typeface="Arial"/>
              </a:defRPr>
            </a:pPr>
            <a:r>
              <a:t>✔ O duplo bloqueio operacional (APR + PT) comprova de forma incontestável que frentes de risco só operaram sob autorização.</a:t>
            </a:r>
          </a:p>
          <a:p>
            <a:pPr>
              <a:spcBef>
                <a:spcPts val="800"/>
              </a:spcBef>
              <a:defRPr sz="950">
                <a:solidFill>
                  <a:srgbClr val="E2E8F0"/>
                </a:solidFill>
                <a:latin typeface="Arial"/>
              </a:defRPr>
            </a:pPr>
            <a:r>
              <a:t>✔ Auditorias periciais e fiscais do trabalho consultam evidências instantaneamente via exploradores públicos da Solana.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37360"/>
            <a:ext cx="3413455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920240"/>
            <a:ext cx="30476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PREVISIBILIDADE E EFICIÊNCIA DE CUSTOS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743200"/>
            <a:ext cx="3047695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✔ Arquitetura híbrida elimina os custos exorbitantes de aluguel de conta (rent) no estado on-chain.</a:t>
            </a:r>
          </a:p>
          <a:p>
            <a:pPr>
              <a:spcBef>
                <a:spcPts val="800"/>
              </a:spcBef>
              <a:defRPr sz="950">
                <a:solidFill>
                  <a:srgbClr val="E2E8F0"/>
                </a:solidFill>
                <a:latin typeface="Arial"/>
              </a:defRPr>
            </a:pPr>
            <a:r>
              <a:t>✔ O modelo de pagamento único do Arweave protege o orçamento corporativo contra reajustes de armazenamento em nuvem.</a:t>
            </a:r>
          </a:p>
          <a:p>
            <a:pPr>
              <a:spcBef>
                <a:spcPts val="800"/>
              </a:spcBef>
              <a:defRPr sz="950">
                <a:solidFill>
                  <a:srgbClr val="E2E8F0"/>
                </a:solidFill>
                <a:latin typeface="Arial"/>
              </a:defRPr>
            </a:pPr>
            <a:r>
              <a:t>✔ As simulações de valores permitem precificar com precisão o impacto das medidas mitigatórias antes de assinar contratos.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37360"/>
            <a:ext cx="3413455" cy="42976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920240"/>
            <a:ext cx="30476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Arial"/>
              </a:defRPr>
            </a:pPr>
            <a:r>
              <a:t>AGILIDADE E GOVERNANÇA OPERACIONAL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743200"/>
            <a:ext cx="3047695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>
                <a:solidFill>
                  <a:srgbClr val="E2E8F0"/>
                </a:solidFill>
                <a:latin typeface="Arial"/>
              </a:defRPr>
            </a:pPr>
            <a:r>
              <a:t>✔ Facilitadores de agrupamento N:1 reduzem o retrabalho administrativo e simplificam o dimensionamento de HH.</a:t>
            </a:r>
          </a:p>
          <a:p>
            <a:pPr>
              <a:spcBef>
                <a:spcPts val="800"/>
              </a:spcBef>
              <a:defRPr sz="950">
                <a:solidFill>
                  <a:srgbClr val="E2E8F0"/>
                </a:solidFill>
                <a:latin typeface="Arial"/>
              </a:defRPr>
            </a:pPr>
            <a:r>
              <a:t>✔ A interface estilo Trello confere clareza visual imediata para coordenadores e equipes de execução em campo.</a:t>
            </a:r>
          </a:p>
          <a:p>
            <a:pPr>
              <a:spcBef>
                <a:spcPts val="800"/>
              </a:spcBef>
              <a:defRPr sz="950">
                <a:solidFill>
                  <a:srgbClr val="E2E8F0"/>
                </a:solidFill>
                <a:latin typeface="Arial"/>
              </a:defRPr>
            </a:pPr>
            <a:r>
              <a:t>✔ Padronização por Schemas e Credenciais agiliza a emissão de laudos para clientes e seguradoras corporativas.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